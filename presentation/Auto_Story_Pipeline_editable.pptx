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" y="1627632"/>
            <a:ext cx="5833872" cy="4160520"/>
          </a:xfrm>
          <a:prstGeom prst="roundRect">
            <a:avLst/>
          </a:prstGeom>
          <a:solidFill>
            <a:srgbClr val="DEEBFC"/>
          </a:solidFill>
          <a:ln w="6985">
            <a:solidFill>
              <a:srgbClr val="A0B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71616" y="1627632"/>
            <a:ext cx="5833872" cy="4160520"/>
          </a:xfrm>
          <a:prstGeom prst="roundRect">
            <a:avLst/>
          </a:prstGeom>
          <a:solidFill>
            <a:srgbClr val="DEF4DE"/>
          </a:solidFill>
          <a:ln w="6985">
            <a:solidFill>
              <a:srgbClr val="A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006840" cy="347472"/>
          </a:xfrm>
          <a:prstGeom prst="rect">
            <a:avLst/>
          </a:prstGeom>
          <a:noFill/>
        </p:spPr>
        <p:txBody>
          <a:bodyPr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1800" b="1"/>
            </a:pPr>
            <a:r>
              <a:t>Auto Story Pipeline — editable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19488" y="109728"/>
            <a:ext cx="2395728" cy="13898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8C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850" b="0"/>
            </a:pPr>
            <a:r>
              <a:t>Notes</a:t>
            </a:r>
            <a:br/>
            <a:r>
              <a:t>• Consistent self-attention: OFF</a:t>
            </a:r>
            <a:br/>
            <a:r>
              <a:t>  in submitted runs</a:t>
            </a:r>
            <a:br/>
            <a:r>
              <a:t>• DiT / PixArt: exploratory</a:t>
            </a:r>
            <a:br/>
            <a:r>
              <a:t>  comparison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438912"/>
            <a:ext cx="2788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950" b="0"/>
            </a:pPr>
            <a:r>
              <a:t>Scene-marked story text</a:t>
            </a:r>
            <a:br/>
            <a:r>
              <a:t>• [SCENE-n], [SEP]</a:t>
            </a:r>
            <a:br/>
            <a:r>
              <a:t>• &lt;Entity&gt; tags across scenes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438912"/>
            <a:ext cx="3154680" cy="9601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950" b="0"/>
            </a:pPr>
            <a:r>
              <a:t>Parser</a:t>
            </a:r>
            <a:br/>
            <a:r>
              <a:t>• Ordered scenes</a:t>
            </a:r>
            <a:br/>
            <a:r>
              <a:t>• Distinct tagged entities |E|</a:t>
            </a:r>
            <a:br/>
            <a:r>
              <a:t>• Raw text for planner</a:t>
            </a:r>
          </a:p>
        </p:txBody>
      </p:sp>
      <p:sp>
        <p:nvSpPr>
          <p:cNvPr id="8" name="Decision 7"/>
          <p:cNvSpPr/>
          <p:nvPr/>
        </p:nvSpPr>
        <p:spPr>
          <a:xfrm>
            <a:off x="6766560" y="402336"/>
            <a:ext cx="1627632" cy="1024128"/>
          </a:xfrm>
          <a:prstGeom prst="flowChartDecision">
            <a:avLst/>
          </a:prstGeom>
          <a:solidFill>
            <a:srgbClr val="FFF8DC"/>
          </a:solidFill>
          <a:ln w="13970">
            <a:solidFill>
              <a:srgbClr val="82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ctr">
              <a:spcAft>
                <a:spcPts val="0"/>
              </a:spcAft>
              <a:defRPr sz="900" b="1"/>
            </a:pPr>
            <a:r>
              <a:t>Router</a:t>
            </a:r>
            <a:br/>
            <a:r>
              <a:t>|E|=1 vs |E|≥2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90088" y="914400"/>
            <a:ext cx="73152" cy="0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217920" y="841248"/>
            <a:ext cx="548640" cy="73152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0" y="1682496"/>
            <a:ext cx="5577840" cy="23774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54864" bIns="54864">
            <a:norm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14376E"/>
                </a:solidFill>
              </a:defRPr>
            </a:pPr>
            <a:r>
              <a:t>Single-character path (submitted when |E| =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82496"/>
            <a:ext cx="5303520" cy="23774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54864" bIns="54864">
            <a:norm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0F5A23"/>
                </a:solidFill>
              </a:defRPr>
            </a:pPr>
            <a:r>
              <a:t>Multi-character path (|E| ≥ 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2029968"/>
            <a:ext cx="5413248" cy="603504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875" b="0"/>
            </a:pPr>
            <a:r>
              <a:t>LLM-assisted structured planner (text only)</a:t>
            </a:r>
            <a:br/>
            <a:r>
              <a:t>• Character specs, scene fields, continuity, setting focus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2697480"/>
            <a:ext cx="5413248" cy="603504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875" b="0"/>
            </a:pPr>
            <a:r>
              <a:t>Subject-type normalization + scene-consistency phrases</a:t>
            </a:r>
            <a:br/>
            <a:r>
              <a:t>• Humans / animals / robots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3364992"/>
            <a:ext cx="5413248" cy="74980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875" b="0"/>
            </a:pPr>
            <a:r>
              <a:t>Anchor Bank → canonical half-body anchor</a:t>
            </a:r>
            <a:br/>
            <a:r>
              <a:t>(portrait candidates → one reference for conditioning)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4178808"/>
            <a:ext cx="5413248" cy="45720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875" b="0"/>
            </a:pPr>
            <a:r>
              <a:t>Identity gate · single clear target per scene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" y="4700016"/>
            <a:ext cx="5413248" cy="621792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875" b="0"/>
            </a:pPr>
            <a:r>
              <a:t>SDXL-Turbo + IP-Adapter · identity strength λ = 0.3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" y="5385816"/>
            <a:ext cx="5413248" cy="475488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875" b="0"/>
            </a:pPr>
            <a:r>
              <a:t>Optional: CLIP ViT-B/32 panel selection · multi-candidate runs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2029968"/>
            <a:ext cx="5413248" cy="658368"/>
          </a:xfrm>
          <a:prstGeom prst="roundRect">
            <a:avLst/>
          </a:prstGeom>
          <a:solidFill>
            <a:srgbClr val="E8F6E8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900" b="0"/>
            </a:pPr>
            <a:r>
              <a:t>LLM planner + StoryDiffusion natural prompt adapter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752344"/>
            <a:ext cx="5413248" cy="786384"/>
          </a:xfrm>
          <a:prstGeom prst="roundRect">
            <a:avLst/>
          </a:prstGeom>
          <a:solidFill>
            <a:srgbClr val="E8F6E8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900" b="0"/>
            </a:pPr>
            <a:r>
              <a:t>Identity bank inputs · [Character] lines · identity ref prompts · natural scene prompts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3602736"/>
            <a:ext cx="5413248" cy="804672"/>
          </a:xfrm>
          <a:prstGeom prst="roundRect">
            <a:avLst/>
          </a:prstGeom>
          <a:solidFill>
            <a:srgbClr val="E8F6E8"/>
          </a:solidFill>
          <a:ln w="1270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l">
              <a:spcAft>
                <a:spcPts val="0"/>
              </a:spcAft>
              <a:defRPr sz="900" b="0"/>
            </a:pPr>
            <a:r>
              <a:t>Native StoryDiffusion · no forced single-anchor IP-Adapter on two-primary scenes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218688" y="1261872"/>
            <a:ext cx="4370832" cy="612647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83879" y="1261872"/>
            <a:ext cx="1764793" cy="612647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00600" y="1115568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54864" bIns="54864">
            <a:normAutofit/>
          </a:bodyPr>
          <a:lstStyle/>
          <a:p>
            <a:pPr algn="ctr">
              <a:spcAft>
                <a:spcPts val="0"/>
              </a:spcAft>
              <a:defRPr sz="880" b="0">
                <a:solidFill>
                  <a:srgbClr val="2D3746"/>
                </a:solidFill>
              </a:defRPr>
            </a:pPr>
            <a:r>
              <a:t>|E| =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1155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54864" bIns="54864">
            <a:normAutofit/>
          </a:bodyPr>
          <a:lstStyle/>
          <a:p>
            <a:pPr algn="ctr">
              <a:spcAft>
                <a:spcPts val="0"/>
              </a:spcAft>
              <a:defRPr sz="880" b="0">
                <a:solidFill>
                  <a:srgbClr val="2D3746"/>
                </a:solidFill>
              </a:defRPr>
            </a:pPr>
            <a:r>
              <a:t>|E| ≥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62656" y="2633472"/>
            <a:ext cx="0" cy="64008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62656" y="3300984"/>
            <a:ext cx="0" cy="64008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62656" y="4114800"/>
            <a:ext cx="0" cy="64008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62656" y="4636008"/>
            <a:ext cx="0" cy="64008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2656" y="5321808"/>
            <a:ext cx="0" cy="64008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34272" y="2688336"/>
            <a:ext cx="0" cy="64008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34272" y="3538728"/>
            <a:ext cx="0" cy="64008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64592" y="5897880"/>
            <a:ext cx="11868912" cy="676656"/>
          </a:xfrm>
          <a:prstGeom prst="roundRect">
            <a:avLst/>
          </a:prstGeom>
          <a:solidFill>
            <a:srgbClr val="FFF2CC"/>
          </a:solidFill>
          <a:ln w="13970">
            <a:solidFill>
              <a:srgbClr val="A07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54864" bIns="54864">
            <a:normAutofit/>
          </a:bodyPr>
          <a:lstStyle/>
          <a:p>
            <a:pPr algn="ctr">
              <a:spcAft>
                <a:spcPts val="0"/>
              </a:spcAft>
              <a:defRPr sz="1050" b="1"/>
            </a:pPr>
            <a:r>
              <a:t>Output: N story panels (one per scene) · fully automated · no manual prompt or pixel edits per story after generation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62656" y="5861304"/>
            <a:ext cx="0" cy="36576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034272" y="4407408"/>
            <a:ext cx="0" cy="1490472"/>
          </a:xfrm>
          <a:prstGeom prst="line">
            <a:avLst/>
          </a:prstGeom>
          <a:ln w="23495">
            <a:solidFill>
              <a:srgbClr val="484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